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Quenya: un traduttore da linguaggio naturale a query per Blazegraph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Alberto Zuccari</a:t>
            </a:r>
          </a:p>
          <a:p/>
          <a:p>
            <a:r>
              <a:t>Relatore: Chiar.mo Prof. Fabio Vitali</a:t>
            </a:r>
          </a:p>
          <a:p>
            <a:r>
              <a:t>Correlatore: Chiar.mo Prof. Paolo Bonora</a:t>
            </a:r>
          </a:p>
          <a:p/>
          <a:p>
            <a:r>
              <a:t>Università di Bologna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 dominio: DH.ARC e il Datavault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Centro Ricerca Umanistica DH.ARC</a:t>
            </a:r>
          </a:p>
          <a:p>
            <a:pPr lvl="1"/>
            <a:r>
              <a:t>Gestisce il Datavault, un archivio di dati culturali.</a:t>
            </a:r>
          </a:p>
          <a:p>
            <a:pPr lvl="1"/>
            <a:r>
              <a:t>Si basa su un Knowledge Graph: ~19 Milioni di triple RDF.</a:t>
            </a:r>
          </a:p>
          <a:p>
            <a:pPr/>
            <a:r>
              <a:t>Il vantaggio dei dati a grafo: Collega tra loro dati culturali di natura molto diversa.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 problema dell'accessibilità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L'Utente: Ricercatore Umanistico</a:t>
            </a:r>
          </a:p>
          <a:p>
            <a:pPr lvl="1"/>
            <a:r>
              <a:t>Conosce i dati ma non sa programmare.</a:t>
            </a:r>
          </a:p>
          <a:p>
            <a:pPr/>
            <a:r>
              <a:t>Il problema pratico: La Barriera SPARQL</a:t>
            </a:r>
          </a:p>
          <a:p>
            <a:pPr lvl="1"/>
            <a:r>
              <a:t>Per leggere e interrogare il Datavault serve saper scrivere in SPARQL, che ha una sintassi rigida e complessa.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 limiti delle interfacce attuali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classici filtri non bastano</a:t>
            </a:r>
          </a:p>
          <a:p>
            <a:pPr lvl="1"/>
            <a:r>
              <a:t>Le interfacce a menu o a filtri limitano le vere potenzialità del grafo.</a:t>
            </a:r>
          </a:p>
          <a:p>
            <a:pPr/>
            <a:r>
              <a:t>Cosa serve davvero?</a:t>
            </a:r>
          </a:p>
          <a:p>
            <a:pPr lvl="1"/>
            <a:r>
              <a:t>Un modo per fare ricerche complesse in libertà, scrivendo come si parla (Linguaggio Naturale).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Obiettivo: Quenya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Quenya: un traduttore da Domanda Naturale a Query Eseguibile</a:t>
            </a:r>
          </a:p>
          <a:p>
            <a:pPr lvl="1"/>
            <a:r>
              <a:t>Esempio: "Quali manoscritti del XIV secolo sono digitalizzati?" -&gt; SELECT ?m WHERE { ... }</a:t>
            </a:r>
          </a:p>
          <a:p>
            <a:pPr/>
            <a:r>
              <a:t>I tre pilastri del progetto:</a:t>
            </a:r>
          </a:p>
          <a:p>
            <a:pPr lvl="1"/>
            <a:r>
              <a:t>1. Affidabilità: Capire davvero cosa sta cercando l'utente.</a:t>
            </a:r>
          </a:p>
          <a:p>
            <a:pPr lvl="1"/>
            <a:r>
              <a:t>2. Nessun errore: Bloccare le allucinazioni del modello prima che arrivino al database.</a:t>
            </a:r>
          </a:p>
          <a:p>
            <a:pPr lvl="1"/>
            <a:r>
              <a:t>3. Esperienza d'uso: Una semplice barra di ricerca, senza complicazioni.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Architettura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</a:t>
            </a:r>
          </a:p>
          <a:p>
            <a:pPr lvl="1"/>
            <a:r>
              <a:t>Semplice barra di ricerca per l'inserimento della query.</a:t>
            </a:r>
          </a:p>
          <a:p>
            <a:pPr/>
            <a:r>
              <a:t>Orchestrator (Backend)</a:t>
            </a:r>
          </a:p>
          <a:p>
            <a:pPr lvl="1"/>
            <a:r>
              <a:t>Controllo e gestione del flusso tra utente, LLM e Database.</a:t>
            </a:r>
          </a:p>
          <a:p>
            <a:pPr/>
            <a:r>
              <a:t>Modello LLM (Fine-tuned)</a:t>
            </a:r>
          </a:p>
          <a:p>
            <a:pPr lvl="1"/>
            <a:r>
              <a:t>Riceve il prompt e genera la query SPARQL.</a:t>
            </a:r>
          </a:p>
          <a:p>
            <a:pPr/>
            <a:r>
              <a:t>Blazegraph</a:t>
            </a:r>
          </a:p>
          <a:p>
            <a:pPr lvl="1"/>
            <a:r>
              <a:t>Il database RDF che esegue la query e restituisce i risultati.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 Motore LLM e Gestione Allucinazioni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scelta: LoRA Fine-tuning</a:t>
            </a:r>
          </a:p>
          <a:p>
            <a:pPr lvl="1"/>
            <a:r>
              <a:t>I grandi modelli commerciali sono lenti e non conoscono il nostro database specifico.</a:t>
            </a:r>
          </a:p>
          <a:p>
            <a:pPr lvl="1"/>
            <a:r>
              <a:t>Quenya è un modello locale e leggero, addestrato esattamente sui dati del Datavault.</a:t>
            </a:r>
          </a:p>
          <a:p>
            <a:pPr/>
            <a:r>
              <a:t>Risolvere il problema delle allucinazioni</a:t>
            </a:r>
          </a:p>
          <a:p>
            <a:pPr lvl="1"/>
            <a:r>
              <a:t>Rischio: Il modello inventa proprietà che non esistono.</a:t>
            </a:r>
          </a:p>
          <a:p>
            <a:pPr lvl="1"/>
            <a:r>
              <a:t>Soluzione: Generazione Vincolata (forziamo l'IA a pescare solo dal vocabolario ufficiale).</a:t>
            </a:r>
          </a:p>
          <a:p>
            <a:pPr lvl="1"/>
            <a:r>
              <a:t>Risultato: Le query generate non vanno in errore di sintassi.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Valutazione: Metodologia 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Dati di Test</a:t>
            </a:r>
          </a:p>
          <a:p>
            <a:pPr lvl="1"/>
            <a:r>
              <a:t>Training Set: Visti in fase di addestramento.</a:t>
            </a:r>
          </a:p>
          <a:p>
            <a:pPr lvl="1"/>
            <a:r>
              <a:t>Test Set: Dati tenuti nascosti per la validazione.</a:t>
            </a:r>
          </a:p>
          <a:p>
            <a:pPr/>
            <a:r>
              <a:t>Cosa abbiamo misurato</a:t>
            </a:r>
          </a:p>
          <a:p>
            <a:pPr lvl="1"/>
            <a:r>
              <a:t>Efficacia: Precision, Recall e F1-Score.</a:t>
            </a:r>
          </a:p>
          <a:p>
            <a:pPr lvl="1"/>
            <a:r>
              <a:t>Efficienza: Percentuale di query eseguite con successo e tempi di attesa.</a:t>
            </a:r>
          </a:p>
          <a:p>
            <a:pPr lvl="1"/>
            <a:r>
              <a:t>Tipi di query testate: Ricerche semplici, combinazioni di filtri, relazioni complesse.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Valutazione: Risultati Ottenuti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 grandi successi:</a:t>
            </a:r>
          </a:p>
          <a:p>
            <a:pPr lvl="1"/>
            <a:r>
              <a:t>Alta Accuratezza nell'interpretazione della domanda.</a:t>
            </a:r>
          </a:p>
          <a:p>
            <a:pPr lvl="1"/>
            <a:r>
              <a:t>Bassa Latenza: Tempi di risposta naturali per l'utente web.</a:t>
            </a:r>
          </a:p>
          <a:p>
            <a:pPr lvl="1"/>
            <a:r>
              <a:t>Zero Errori Sintattici grazie alla Generazione Vincolata.</a:t>
            </a:r>
          </a:p>
          <a:p>
            <a:pPr/>
            <a:r>
              <a:t>Considerazioni finali:</a:t>
            </a:r>
          </a:p>
          <a:p>
            <a:pPr lvl="1"/>
            <a:r>
              <a:t>LLM e Validatore si districano bene anche in relazioni RDF frammentate.</a:t>
            </a:r>
          </a:p>
          <a:p>
            <a:pPr lvl="1"/>
            <a:r>
              <a:t>Il modello compatto regge il confronto con i giganti commerciali su questo dominio.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Conclusioni e Sviluppi Futuri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Conclusioni</a:t>
            </a:r>
          </a:p>
          <a:p>
            <a:pPr lvl="1"/>
            <a:r>
              <a:t>Dati per tutti: Nessun bisogno di imparare SPARQL per i ricercatori.</a:t>
            </a:r>
          </a:p>
          <a:p>
            <a:pPr lvl="1"/>
            <a:r>
              <a:t>Efficienza su misura: Ottimi risultati senza supercomputer.</a:t>
            </a:r>
          </a:p>
          <a:p>
            <a:pPr lvl="1"/>
            <a:r>
              <a:t>Il patrimonio del DH.ARC è interrogabile come un motore di ricerca.</a:t>
            </a:r>
          </a:p>
          <a:p>
            <a:pPr/>
            <a:r>
              <a:t>Sviluppi Futuri</a:t>
            </a:r>
          </a:p>
          <a:p>
            <a:pPr lvl="1"/>
            <a:r>
              <a:t>Chat: Più turni di dialogo per chiarire query ambigue.</a:t>
            </a:r>
          </a:p>
          <a:p>
            <a:pPr lvl="1"/>
            <a:r>
              <a:t>Lingue: Supporto per l'Inglese.</a:t>
            </a:r>
          </a:p>
          <a:p>
            <a:pPr lvl="1"/>
            <a:r>
              <a:t>Complessità: Federated SPARQL e Query geospaziali.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